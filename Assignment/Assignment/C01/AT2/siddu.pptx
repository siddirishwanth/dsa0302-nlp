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hemanth" userId="51ec91c9be0baece" providerId="LiveId" clId="{EF896774-5661-4103-B70E-67E50858C91F}"/>
    <pc:docChg chg="addSld delSld modSld">
      <pc:chgData name="reddy hemanth" userId="51ec91c9be0baece" providerId="LiveId" clId="{EF896774-5661-4103-B70E-67E50858C91F}" dt="2026-07-15T05:34:19.123" v="2" actId="2696"/>
      <pc:docMkLst>
        <pc:docMk/>
      </pc:docMkLst>
      <pc:sldChg chg="modSp new del mod">
        <pc:chgData name="reddy hemanth" userId="51ec91c9be0baece" providerId="LiveId" clId="{EF896774-5661-4103-B70E-67E50858C91F}" dt="2026-07-15T05:34:19.123" v="2" actId="2696"/>
        <pc:sldMkLst>
          <pc:docMk/>
          <pc:sldMk cId="1139704392" sldId="263"/>
        </pc:sldMkLst>
        <pc:spChg chg="mod">
          <ac:chgData name="reddy hemanth" userId="51ec91c9be0baece" providerId="LiveId" clId="{EF896774-5661-4103-B70E-67E50858C91F}" dt="2026-07-15T05:34:11.474" v="1" actId="5793"/>
          <ac:spMkLst>
            <pc:docMk/>
            <pc:sldMk cId="1139704392" sldId="263"/>
            <ac:spMk id="3" creationId="{605192CC-883E-CD93-797E-43B61258385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FE18-B23A-D5E9-F7E6-5371AAC5D9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CDAE755A-8525-0A32-EFE3-7A977DD518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6CE0878A-CAB0-D229-9746-81AEF571F647}"/>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A5EF250D-55B6-13E9-11D5-9D82626EF3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040EE8-615B-799E-18B7-007E0BF57284}"/>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6547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B355-E519-A557-CD4D-CBDA55E28A73}"/>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9D9D7D06-F32A-F539-4905-94FBAE5424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351EA79-2FA8-4856-A043-7622D502D093}"/>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09005783-AE86-3919-3385-07A158B6E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036F4-CE2E-157C-6149-34B2BEBEB92A}"/>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03804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149F-71BA-EA49-77A2-A2FAB761AD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6ABE5B12-BE4E-2ED4-14D7-75DD2A8124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9FB85E-62DD-01AD-EBDA-D45705BC0C97}"/>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53F9D2A6-8439-EDC5-C3A9-021266842F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0FE0F2-9B94-21E8-6A7C-AEF18E45FE55}"/>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40791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3C08-D240-4EAB-2981-17E8366DD52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A0963DA3-17AB-CB86-035E-D7A5AC69E9E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F1E6BABB-72B1-82F8-F9FC-B278B813C55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584F14A2-AEDF-E2E1-A232-333780561F1F}"/>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6" name="Footer Placeholder 5">
            <a:extLst>
              <a:ext uri="{FF2B5EF4-FFF2-40B4-BE49-F238E27FC236}">
                <a16:creationId xmlns:a16="http://schemas.microsoft.com/office/drawing/2014/main" id="{ACB09F9C-5CA2-A6AE-B440-17E19B917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7F5912-21EE-97E7-B3BE-FDAD4736BCAD}"/>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865155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76BD-1A10-E71A-EE9A-73AF7FCEEE13}"/>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94A404A-1299-F316-4D07-04260C919D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7972E6-2319-2CB6-509B-D27912CA592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229F987-8608-531C-A56F-71BD0F25E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B27CA31-03E2-AADA-8DF7-E6E1D7D5FA9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A1906D32-63C3-1D29-834B-33880618E84B}"/>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8" name="Footer Placeholder 7">
            <a:extLst>
              <a:ext uri="{FF2B5EF4-FFF2-40B4-BE49-F238E27FC236}">
                <a16:creationId xmlns:a16="http://schemas.microsoft.com/office/drawing/2014/main" id="{99F70803-CF98-61D1-7C4F-78002B9DC9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CEF25D-51D5-48CF-8111-21DD55CFBFEA}"/>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25314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9FD9-2EFB-3F43-86F7-EE2FF2576E09}"/>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79C8CC4C-D5FB-E134-5A1E-398E3F6C8F24}"/>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4" name="Footer Placeholder 3">
            <a:extLst>
              <a:ext uri="{FF2B5EF4-FFF2-40B4-BE49-F238E27FC236}">
                <a16:creationId xmlns:a16="http://schemas.microsoft.com/office/drawing/2014/main" id="{85EBA3BB-0E37-9683-5F0C-C259ECCCB4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6CD487-8F14-0FDC-AAA2-8D296896EB1C}"/>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97537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565810-3D87-5BE1-9591-3283C792A39F}"/>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3" name="Footer Placeholder 2">
            <a:extLst>
              <a:ext uri="{FF2B5EF4-FFF2-40B4-BE49-F238E27FC236}">
                <a16:creationId xmlns:a16="http://schemas.microsoft.com/office/drawing/2014/main" id="{1813BE42-3677-1960-DD8A-A3360EA0DC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7E06D2-B9EC-1513-9E3B-B1FE52EA8EA2}"/>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972165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069B-6A44-0A5E-13C1-2BEE03F3A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F8AD6C26-827E-1EB5-85B4-2093D4E52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E66C93E2-E690-D2CB-4D81-6E315B2F8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D8B7A9-D5C4-6DA7-5476-97C144A71725}"/>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6" name="Footer Placeholder 5">
            <a:extLst>
              <a:ext uri="{FF2B5EF4-FFF2-40B4-BE49-F238E27FC236}">
                <a16:creationId xmlns:a16="http://schemas.microsoft.com/office/drawing/2014/main" id="{09D3CE59-740F-FA50-3E37-0D9620A522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5F4B82-C857-F645-98F1-3077ABCC40DD}"/>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1828820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66348-734D-DFC5-6D9F-425A3990AC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F63168D-2E83-A98D-752D-8E40D77328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36DB8B-0E2F-4113-797F-A903F87FCB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A8178D4-2D98-C8BE-C21F-211142FEC118}"/>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6" name="Footer Placeholder 5">
            <a:extLst>
              <a:ext uri="{FF2B5EF4-FFF2-40B4-BE49-F238E27FC236}">
                <a16:creationId xmlns:a16="http://schemas.microsoft.com/office/drawing/2014/main" id="{BDBB2590-D00B-9EB0-D417-176BF70322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EA03B0-575A-BAEB-53A1-223D3D53727C}"/>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682351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BD887-3A34-A047-F17C-FF6863BD7149}"/>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7D9B4DEE-22A2-2B87-DA56-4135B462B1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E0F61FA-5A3C-1288-3D76-B87D3206AF08}"/>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FB9935A9-D45A-81BF-DD9B-C78EF5597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F867E3-FAE3-6685-3F0D-309440627498}"/>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383475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7B3F70-CA40-5967-47C7-37202C2E74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A5ACDEC-CBCC-FE06-F637-C8281A9329E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6D9ED51-1866-4654-7774-826F1288EBA3}"/>
              </a:ext>
            </a:extLst>
          </p:cNvPr>
          <p:cNvSpPr>
            <a:spLocks noGrp="1"/>
          </p:cNvSpPr>
          <p:nvPr>
            <p:ph type="dt" sz="half" idx="10"/>
          </p:nvPr>
        </p:nvSpPr>
        <p:spPr/>
        <p:txBody>
          <a:body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A829AF67-25C2-CE1E-6F1E-EAF3E248B9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EA94BD-4CE2-C031-7FEA-FFAE5D16490B}"/>
              </a:ext>
            </a:extLst>
          </p:cNvPr>
          <p:cNvSpPr>
            <a:spLocks noGrp="1"/>
          </p:cNvSpPr>
          <p:nvPr>
            <p:ph type="sldNum" sz="quarter" idx="12"/>
          </p:nvPr>
        </p:nvSpPr>
        <p:spPr/>
        <p:txBody>
          <a:bodyPr/>
          <a:lstStyle/>
          <a:p>
            <a:fld id="{C1D9E24A-02D1-4F97-AECB-1CCA4325A591}" type="slidenum">
              <a:rPr lang="en-IN" smtClean="0"/>
              <a:t>‹#›</a:t>
            </a:fld>
            <a:endParaRPr lang="en-IN"/>
          </a:p>
        </p:txBody>
      </p:sp>
    </p:spTree>
    <p:extLst>
      <p:ext uri="{BB962C8B-B14F-4D97-AF65-F5344CB8AC3E}">
        <p14:creationId xmlns:p14="http://schemas.microsoft.com/office/powerpoint/2010/main" val="2181943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171DF-AEE1-21AE-DD72-23C00B3CB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94FFF31-193C-BA95-3965-1D3AF59AB1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14D3EA6-121C-00EB-A33A-FC691DF7A7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496FB9-B2D9-455D-847A-22781B5167AF}" type="datetimeFigureOut">
              <a:rPr lang="en-IN" smtClean="0"/>
              <a:t>15-07-2026</a:t>
            </a:fld>
            <a:endParaRPr lang="en-IN"/>
          </a:p>
        </p:txBody>
      </p:sp>
      <p:sp>
        <p:nvSpPr>
          <p:cNvPr id="5" name="Footer Placeholder 4">
            <a:extLst>
              <a:ext uri="{FF2B5EF4-FFF2-40B4-BE49-F238E27FC236}">
                <a16:creationId xmlns:a16="http://schemas.microsoft.com/office/drawing/2014/main" id="{5A5730AB-202C-0861-F388-F97B9B065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C76A99-24FB-30A7-9332-FCD71A41A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D9E24A-02D1-4F97-AECB-1CCA4325A591}" type="slidenum">
              <a:rPr lang="en-IN" smtClean="0"/>
              <a:t>‹#›</a:t>
            </a:fld>
            <a:endParaRPr lang="en-IN"/>
          </a:p>
        </p:txBody>
      </p:sp>
    </p:spTree>
    <p:extLst>
      <p:ext uri="{BB962C8B-B14F-4D97-AF65-F5344CB8AC3E}">
        <p14:creationId xmlns:p14="http://schemas.microsoft.com/office/powerpoint/2010/main" val="2106204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2C60-447D-EB78-1044-A1084E398956}"/>
              </a:ext>
            </a:extLst>
          </p:cNvPr>
          <p:cNvSpPr>
            <a:spLocks noGrp="1"/>
          </p:cNvSpPr>
          <p:nvPr>
            <p:ph type="ctrTitle"/>
          </p:nvPr>
        </p:nvSpPr>
        <p:spPr/>
        <p:txBody>
          <a:bodyPr>
            <a:normAutofit fontScale="90000"/>
          </a:bodyPr>
          <a:lstStyle/>
          <a:p>
            <a:r>
              <a:rPr lang="en-IN" sz="5600" dirty="0">
                <a:latin typeface="Times New Roman" panose="02020603050405020304" pitchFamily="18" charset="0"/>
                <a:cs typeface="Times New Roman" panose="02020603050405020304" pitchFamily="18" charset="0"/>
              </a:rPr>
              <a:t>Derivational Morphology and Vocabulary Expansion </a:t>
            </a:r>
            <a:br>
              <a:rPr lang="en-IN" dirty="0"/>
            </a:br>
            <a:endParaRPr lang="en-IN" dirty="0"/>
          </a:p>
        </p:txBody>
      </p:sp>
      <p:sp>
        <p:nvSpPr>
          <p:cNvPr id="3" name="Subtitle 2">
            <a:extLst>
              <a:ext uri="{FF2B5EF4-FFF2-40B4-BE49-F238E27FC236}">
                <a16:creationId xmlns:a16="http://schemas.microsoft.com/office/drawing/2014/main" id="{64EB1DD6-7F94-8CC4-DC63-42973B587506}"/>
              </a:ext>
            </a:extLst>
          </p:cNvPr>
          <p:cNvSpPr>
            <a:spLocks noGrp="1"/>
          </p:cNvSpPr>
          <p:nvPr>
            <p:ph type="subTitle"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O. Siddi Rishwanth (192472148)</a:t>
            </a:r>
          </a:p>
          <a:p>
            <a:pPr>
              <a:defRPr/>
            </a:pPr>
            <a:r>
              <a:rPr lang="en-US" b="1" dirty="0">
                <a:latin typeface="Times New Roman" panose="02020603050405020304" pitchFamily="18" charset="0"/>
                <a:cs typeface="Times New Roman" panose="02020603050405020304" pitchFamily="18" charset="0"/>
              </a:rPr>
              <a:t>DSA0302-</a:t>
            </a:r>
            <a:r>
              <a:rPr lang="en-IN" b="1" dirty="0">
                <a:latin typeface="Times New Roman" panose="02020603050405020304" pitchFamily="18" charset="0"/>
                <a:cs typeface="Times New Roman" panose="02020603050405020304" pitchFamily="18" charset="0"/>
              </a:rPr>
              <a:t> Natural Language Processing</a:t>
            </a:r>
          </a:p>
          <a:p>
            <a:pPr>
              <a:defRPr/>
            </a:pPr>
            <a:r>
              <a:rPr lang="en-US" b="1" dirty="0">
                <a:latin typeface="Times New Roman" panose="02020603050405020304" pitchFamily="18" charset="0"/>
                <a:cs typeface="Times New Roman" panose="02020603050405020304" pitchFamily="18" charset="0"/>
              </a:rPr>
              <a:t>Course Faculty : Dr. T. Devi </a:t>
            </a:r>
          </a:p>
          <a:p>
            <a:pPr>
              <a:defRPr/>
            </a:pPr>
            <a:r>
              <a:rPr lang="en-US" b="1" dirty="0">
                <a:latin typeface="Times New Roman" panose="02020603050405020304" pitchFamily="18" charset="0"/>
                <a:cs typeface="Times New Roman" panose="02020603050405020304" pitchFamily="18" charset="0"/>
              </a:rPr>
              <a:t>SIMATS Engineering, Chennai</a:t>
            </a:r>
          </a:p>
          <a:p>
            <a:endParaRPr lang="en-IN" dirty="0"/>
          </a:p>
        </p:txBody>
      </p:sp>
      <p:pic>
        <p:nvPicPr>
          <p:cNvPr id="5" name="image3.png" descr="C:\Users\ADMIN\AppData\Local\Microsoft\Windows\INetCache\Content.MSO\C29DB0A6.tmp">
            <a:extLst>
              <a:ext uri="{FF2B5EF4-FFF2-40B4-BE49-F238E27FC236}">
                <a16:creationId xmlns:a16="http://schemas.microsoft.com/office/drawing/2014/main" id="{EC971E88-F9A6-93F0-E460-73E1154EF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2483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A2CEC-D1BB-F210-77EE-9C3B7E04FEEA}"/>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2140919-E830-7A20-81BA-8AB0EDF11B0A}"/>
              </a:ext>
            </a:extLst>
          </p:cNvPr>
          <p:cNvSpPr>
            <a:spLocks noGrp="1"/>
          </p:cNvSpPr>
          <p:nvPr>
            <p:ph idx="1"/>
          </p:nvPr>
        </p:nvSpPr>
        <p:spPr>
          <a:xfrm>
            <a:off x="1700980" y="1825625"/>
            <a:ext cx="9652819" cy="4351338"/>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Derivational Morphology is the branch of linguistics that studies how </a:t>
            </a:r>
            <a:r>
              <a:rPr lang="en-IN" sz="2000" b="1" dirty="0">
                <a:latin typeface="Times New Roman" panose="02020603050405020304" pitchFamily="18" charset="0"/>
                <a:cs typeface="Times New Roman" panose="02020603050405020304" pitchFamily="18" charset="0"/>
              </a:rPr>
              <a:t>new words are formed</a:t>
            </a:r>
            <a:r>
              <a:rPr lang="en-IN" sz="2000" dirty="0">
                <a:latin typeface="Times New Roman" panose="02020603050405020304" pitchFamily="18" charset="0"/>
                <a:cs typeface="Times New Roman" panose="02020603050405020304" pitchFamily="18" charset="0"/>
              </a:rPr>
              <a:t> by adding </a:t>
            </a:r>
            <a:r>
              <a:rPr lang="en-IN" sz="2000" b="1" dirty="0">
                <a:latin typeface="Times New Roman" panose="02020603050405020304" pitchFamily="18" charset="0"/>
                <a:cs typeface="Times New Roman" panose="02020603050405020304" pitchFamily="18" charset="0"/>
              </a:rPr>
              <a:t>prefixes</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suffixes</a:t>
            </a:r>
            <a:r>
              <a:rPr lang="en-IN" sz="2000" dirty="0">
                <a:latin typeface="Times New Roman" panose="02020603050405020304" pitchFamily="18" charset="0"/>
                <a:cs typeface="Times New Roman" panose="02020603050405020304" pitchFamily="18" charset="0"/>
              </a:rPr>
              <a:t> to root words. It changes the meaning or grammatical category of a word, helping to expand vocabulary. This process plays an important role in </a:t>
            </a:r>
            <a:r>
              <a:rPr lang="en-IN" sz="2000" b="1" dirty="0">
                <a:latin typeface="Times New Roman" panose="02020603050405020304" pitchFamily="18" charset="0"/>
                <a:cs typeface="Times New Roman" panose="02020603050405020304" pitchFamily="18" charset="0"/>
              </a:rPr>
              <a:t>Natural Language Processing (NLP)</a:t>
            </a:r>
            <a:r>
              <a:rPr lang="en-IN" sz="2000" dirty="0">
                <a:latin typeface="Times New Roman" panose="02020603050405020304" pitchFamily="18" charset="0"/>
                <a:cs typeface="Times New Roman" panose="02020603050405020304" pitchFamily="18" charset="0"/>
              </a:rPr>
              <a:t>, machine translation, information retrieval, and text analysis by enabling computers to understand word relationships more effectively.</a:t>
            </a:r>
          </a:p>
        </p:txBody>
      </p:sp>
    </p:spTree>
    <p:extLst>
      <p:ext uri="{BB962C8B-B14F-4D97-AF65-F5344CB8AC3E}">
        <p14:creationId xmlns:p14="http://schemas.microsoft.com/office/powerpoint/2010/main" val="2710111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C5C6-D0A5-1B4E-CDDB-EE8EF957903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Common Derivational Affixes</a:t>
            </a:r>
          </a:p>
        </p:txBody>
      </p:sp>
      <p:graphicFrame>
        <p:nvGraphicFramePr>
          <p:cNvPr id="5" name="Content Placeholder 4">
            <a:extLst>
              <a:ext uri="{FF2B5EF4-FFF2-40B4-BE49-F238E27FC236}">
                <a16:creationId xmlns:a16="http://schemas.microsoft.com/office/drawing/2014/main" id="{22CF8AA5-DBE9-633D-AF96-80B19F1DA44E}"/>
              </a:ext>
            </a:extLst>
          </p:cNvPr>
          <p:cNvGraphicFramePr>
            <a:graphicFrameLocks noGrp="1"/>
          </p:cNvGraphicFramePr>
          <p:nvPr>
            <p:ph idx="1"/>
            <p:extLst>
              <p:ext uri="{D42A27DB-BD31-4B8C-83A1-F6EECF244321}">
                <p14:modId xmlns:p14="http://schemas.microsoft.com/office/powerpoint/2010/main" val="3372760214"/>
              </p:ext>
            </p:extLst>
          </p:nvPr>
        </p:nvGraphicFramePr>
        <p:xfrm>
          <a:off x="838200" y="1825624"/>
          <a:ext cx="10515596" cy="4175920"/>
        </p:xfrm>
        <a:graphic>
          <a:graphicData uri="http://schemas.openxmlformats.org/drawingml/2006/table">
            <a:tbl>
              <a:tblPr firstRow="1" bandRow="1">
                <a:tableStyleId>{5C22544A-7EE6-4342-B048-85BDC9FD1C3A}</a:tableStyleId>
              </a:tblPr>
              <a:tblGrid>
                <a:gridCol w="2628899">
                  <a:extLst>
                    <a:ext uri="{9D8B030D-6E8A-4147-A177-3AD203B41FA5}">
                      <a16:colId xmlns:a16="http://schemas.microsoft.com/office/drawing/2014/main" val="3180098627"/>
                    </a:ext>
                  </a:extLst>
                </a:gridCol>
                <a:gridCol w="2628899">
                  <a:extLst>
                    <a:ext uri="{9D8B030D-6E8A-4147-A177-3AD203B41FA5}">
                      <a16:colId xmlns:a16="http://schemas.microsoft.com/office/drawing/2014/main" val="3858886828"/>
                    </a:ext>
                  </a:extLst>
                </a:gridCol>
                <a:gridCol w="2628899">
                  <a:extLst>
                    <a:ext uri="{9D8B030D-6E8A-4147-A177-3AD203B41FA5}">
                      <a16:colId xmlns:a16="http://schemas.microsoft.com/office/drawing/2014/main" val="2244670270"/>
                    </a:ext>
                  </a:extLst>
                </a:gridCol>
                <a:gridCol w="2628899">
                  <a:extLst>
                    <a:ext uri="{9D8B030D-6E8A-4147-A177-3AD203B41FA5}">
                      <a16:colId xmlns:a16="http://schemas.microsoft.com/office/drawing/2014/main" val="1533268114"/>
                    </a:ext>
                  </a:extLst>
                </a:gridCol>
              </a:tblGrid>
              <a:tr h="579152">
                <a:tc>
                  <a:txBody>
                    <a:bodyPr/>
                    <a:lstStyle/>
                    <a:p>
                      <a:pPr>
                        <a:buNone/>
                      </a:pPr>
                      <a:r>
                        <a:rPr lang="en-IN" b="1" dirty="0"/>
                        <a:t>Affix</a:t>
                      </a:r>
                      <a:endParaRPr lang="en-IN" dirty="0"/>
                    </a:p>
                  </a:txBody>
                  <a:tcPr anchor="ctr"/>
                </a:tc>
                <a:tc>
                  <a:txBody>
                    <a:bodyPr/>
                    <a:lstStyle/>
                    <a:p>
                      <a:pPr>
                        <a:buNone/>
                      </a:pPr>
                      <a:r>
                        <a:rPr lang="en-IN" b="1"/>
                        <a:t>Type</a:t>
                      </a:r>
                      <a:endParaRPr lang="en-IN"/>
                    </a:p>
                  </a:txBody>
                  <a:tcPr anchor="ctr"/>
                </a:tc>
                <a:tc>
                  <a:txBody>
                    <a:bodyPr/>
                    <a:lstStyle/>
                    <a:p>
                      <a:pPr>
                        <a:buNone/>
                      </a:pPr>
                      <a:r>
                        <a:rPr lang="en-IN" b="1"/>
                        <a:t>Purpose</a:t>
                      </a:r>
                      <a:endParaRPr lang="en-IN"/>
                    </a:p>
                  </a:txBody>
                  <a:tcPr anchor="ctr"/>
                </a:tc>
                <a:tc>
                  <a:txBody>
                    <a:bodyPr/>
                    <a:lstStyle/>
                    <a:p>
                      <a:pPr>
                        <a:buNone/>
                      </a:pPr>
                      <a:r>
                        <a:rPr lang="en-IN" b="1" dirty="0"/>
                        <a:t>Example</a:t>
                      </a:r>
                      <a:endParaRPr lang="en-IN" dirty="0"/>
                    </a:p>
                  </a:txBody>
                  <a:tcPr anchor="ctr"/>
                </a:tc>
                <a:extLst>
                  <a:ext uri="{0D108BD9-81ED-4DB2-BD59-A6C34878D82A}">
                    <a16:rowId xmlns:a16="http://schemas.microsoft.com/office/drawing/2014/main" val="15872047"/>
                  </a:ext>
                </a:extLst>
              </a:tr>
              <a:tr h="579152">
                <a:tc>
                  <a:txBody>
                    <a:bodyPr/>
                    <a:lstStyle/>
                    <a:p>
                      <a:pPr>
                        <a:buNone/>
                      </a:pPr>
                      <a:r>
                        <a:rPr lang="en-IN" b="1" dirty="0"/>
                        <a:t>er</a:t>
                      </a:r>
                      <a:endParaRPr lang="en-IN" dirty="0"/>
                    </a:p>
                  </a:txBody>
                  <a:tcPr anchor="ctr"/>
                </a:tc>
                <a:tc>
                  <a:txBody>
                    <a:bodyPr/>
                    <a:lstStyle/>
                    <a:p>
                      <a:pPr>
                        <a:buNone/>
                      </a:pPr>
                      <a:r>
                        <a:rPr lang="en-IN"/>
                        <a:t>Suffix</a:t>
                      </a:r>
                    </a:p>
                  </a:txBody>
                  <a:tcPr anchor="ctr"/>
                </a:tc>
                <a:tc>
                  <a:txBody>
                    <a:bodyPr/>
                    <a:lstStyle/>
                    <a:p>
                      <a:pPr>
                        <a:buNone/>
                      </a:pPr>
                      <a:r>
                        <a:rPr lang="en-IN"/>
                        <a:t>Forms a person/noun</a:t>
                      </a:r>
                    </a:p>
                  </a:txBody>
                  <a:tcPr anchor="ctr"/>
                </a:tc>
                <a:tc>
                  <a:txBody>
                    <a:bodyPr/>
                    <a:lstStyle/>
                    <a:p>
                      <a:pPr>
                        <a:buNone/>
                      </a:pPr>
                      <a:r>
                        <a:rPr lang="en-IN" dirty="0"/>
                        <a:t>teach → teacher</a:t>
                      </a:r>
                    </a:p>
                  </a:txBody>
                  <a:tcPr anchor="ctr"/>
                </a:tc>
                <a:extLst>
                  <a:ext uri="{0D108BD9-81ED-4DB2-BD59-A6C34878D82A}">
                    <a16:rowId xmlns:a16="http://schemas.microsoft.com/office/drawing/2014/main" val="4223312767"/>
                  </a:ext>
                </a:extLst>
              </a:tr>
              <a:tr h="579152">
                <a:tc>
                  <a:txBody>
                    <a:bodyPr/>
                    <a:lstStyle/>
                    <a:p>
                      <a:pPr>
                        <a:buNone/>
                      </a:pPr>
                      <a:r>
                        <a:rPr lang="en-IN" b="1" dirty="0"/>
                        <a:t>-ness</a:t>
                      </a:r>
                      <a:endParaRPr lang="en-IN" dirty="0"/>
                    </a:p>
                  </a:txBody>
                  <a:tcPr anchor="ctr"/>
                </a:tc>
                <a:tc>
                  <a:txBody>
                    <a:bodyPr/>
                    <a:lstStyle/>
                    <a:p>
                      <a:pPr>
                        <a:buNone/>
                      </a:pPr>
                      <a:r>
                        <a:rPr lang="en-IN"/>
                        <a:t>Suffix</a:t>
                      </a:r>
                    </a:p>
                  </a:txBody>
                  <a:tcPr anchor="ctr"/>
                </a:tc>
                <a:tc>
                  <a:txBody>
                    <a:bodyPr/>
                    <a:lstStyle/>
                    <a:p>
                      <a:pPr>
                        <a:buNone/>
                      </a:pPr>
                      <a:r>
                        <a:rPr lang="en-IN"/>
                        <a:t>Forms a quality/state noun</a:t>
                      </a:r>
                    </a:p>
                  </a:txBody>
                  <a:tcPr anchor="ctr"/>
                </a:tc>
                <a:tc>
                  <a:txBody>
                    <a:bodyPr/>
                    <a:lstStyle/>
                    <a:p>
                      <a:pPr>
                        <a:buNone/>
                      </a:pPr>
                      <a:r>
                        <a:rPr lang="en-IN" dirty="0"/>
                        <a:t>happy → happiness</a:t>
                      </a:r>
                    </a:p>
                  </a:txBody>
                  <a:tcPr anchor="ctr"/>
                </a:tc>
                <a:extLst>
                  <a:ext uri="{0D108BD9-81ED-4DB2-BD59-A6C34878D82A}">
                    <a16:rowId xmlns:a16="http://schemas.microsoft.com/office/drawing/2014/main" val="283487565"/>
                  </a:ext>
                </a:extLst>
              </a:tr>
              <a:tr h="579152">
                <a:tc>
                  <a:txBody>
                    <a:bodyPr/>
                    <a:lstStyle/>
                    <a:p>
                      <a:pPr>
                        <a:buNone/>
                      </a:pPr>
                      <a:r>
                        <a:rPr lang="en-IN" b="1" dirty="0"/>
                        <a:t>-</a:t>
                      </a:r>
                      <a:r>
                        <a:rPr lang="en-IN" b="1" dirty="0" err="1"/>
                        <a:t>ful</a:t>
                      </a:r>
                      <a:endParaRPr lang="en-IN" dirty="0"/>
                    </a:p>
                  </a:txBody>
                  <a:tcPr anchor="ctr"/>
                </a:tc>
                <a:tc>
                  <a:txBody>
                    <a:bodyPr/>
                    <a:lstStyle/>
                    <a:p>
                      <a:pPr>
                        <a:buNone/>
                      </a:pPr>
                      <a:r>
                        <a:rPr lang="en-IN"/>
                        <a:t>Suffix</a:t>
                      </a:r>
                    </a:p>
                  </a:txBody>
                  <a:tcPr anchor="ctr"/>
                </a:tc>
                <a:tc>
                  <a:txBody>
                    <a:bodyPr/>
                    <a:lstStyle/>
                    <a:p>
                      <a:pPr>
                        <a:buNone/>
                      </a:pPr>
                      <a:r>
                        <a:rPr lang="en-IN"/>
                        <a:t>Forms an adjective</a:t>
                      </a:r>
                    </a:p>
                  </a:txBody>
                  <a:tcPr anchor="ctr"/>
                </a:tc>
                <a:tc>
                  <a:txBody>
                    <a:bodyPr/>
                    <a:lstStyle/>
                    <a:p>
                      <a:pPr>
                        <a:buNone/>
                      </a:pPr>
                      <a:r>
                        <a:rPr lang="en-IN" dirty="0"/>
                        <a:t>use → useful</a:t>
                      </a:r>
                    </a:p>
                  </a:txBody>
                  <a:tcPr anchor="ctr"/>
                </a:tc>
                <a:extLst>
                  <a:ext uri="{0D108BD9-81ED-4DB2-BD59-A6C34878D82A}">
                    <a16:rowId xmlns:a16="http://schemas.microsoft.com/office/drawing/2014/main" val="795415303"/>
                  </a:ext>
                </a:extLst>
              </a:tr>
              <a:tr h="579152">
                <a:tc>
                  <a:txBody>
                    <a:bodyPr/>
                    <a:lstStyle/>
                    <a:p>
                      <a:pPr>
                        <a:buNone/>
                      </a:pPr>
                      <a:r>
                        <a:rPr lang="en-IN" b="1" dirty="0"/>
                        <a:t>un-</a:t>
                      </a:r>
                      <a:endParaRPr lang="en-IN" dirty="0"/>
                    </a:p>
                  </a:txBody>
                  <a:tcPr anchor="ctr"/>
                </a:tc>
                <a:tc>
                  <a:txBody>
                    <a:bodyPr/>
                    <a:lstStyle/>
                    <a:p>
                      <a:pPr>
                        <a:buNone/>
                      </a:pPr>
                      <a:r>
                        <a:rPr lang="en-IN"/>
                        <a:t>Prefix</a:t>
                      </a:r>
                    </a:p>
                  </a:txBody>
                  <a:tcPr anchor="ctr"/>
                </a:tc>
                <a:tc>
                  <a:txBody>
                    <a:bodyPr/>
                    <a:lstStyle/>
                    <a:p>
                      <a:pPr>
                        <a:buNone/>
                      </a:pPr>
                      <a:r>
                        <a:rPr lang="en-IN"/>
                        <a:t>Gives opposite meaning</a:t>
                      </a:r>
                    </a:p>
                  </a:txBody>
                  <a:tcPr anchor="ctr"/>
                </a:tc>
                <a:tc>
                  <a:txBody>
                    <a:bodyPr/>
                    <a:lstStyle/>
                    <a:p>
                      <a:pPr>
                        <a:buNone/>
                      </a:pPr>
                      <a:r>
                        <a:rPr lang="en-IN" dirty="0"/>
                        <a:t>happy → unhappy</a:t>
                      </a:r>
                    </a:p>
                  </a:txBody>
                  <a:tcPr anchor="ctr"/>
                </a:tc>
                <a:extLst>
                  <a:ext uri="{0D108BD9-81ED-4DB2-BD59-A6C34878D82A}">
                    <a16:rowId xmlns:a16="http://schemas.microsoft.com/office/drawing/2014/main" val="2683603447"/>
                  </a:ext>
                </a:extLst>
              </a:tr>
              <a:tr h="579152">
                <a:tc>
                  <a:txBody>
                    <a:bodyPr/>
                    <a:lstStyle/>
                    <a:p>
                      <a:pPr>
                        <a:buNone/>
                      </a:pPr>
                      <a:r>
                        <a:rPr lang="en-IN" b="1" dirty="0"/>
                        <a:t>-</a:t>
                      </a:r>
                      <a:r>
                        <a:rPr lang="en-IN" b="1" dirty="0" err="1"/>
                        <a:t>tion</a:t>
                      </a:r>
                      <a:endParaRPr lang="en-IN" dirty="0"/>
                    </a:p>
                  </a:txBody>
                  <a:tcPr anchor="ctr"/>
                </a:tc>
                <a:tc>
                  <a:txBody>
                    <a:bodyPr/>
                    <a:lstStyle/>
                    <a:p>
                      <a:pPr>
                        <a:buNone/>
                      </a:pPr>
                      <a:r>
                        <a:rPr lang="en-IN"/>
                        <a:t>Suffix</a:t>
                      </a:r>
                    </a:p>
                  </a:txBody>
                  <a:tcPr anchor="ctr"/>
                </a:tc>
                <a:tc>
                  <a:txBody>
                    <a:bodyPr/>
                    <a:lstStyle/>
                    <a:p>
                      <a:pPr>
                        <a:buNone/>
                      </a:pPr>
                      <a:r>
                        <a:rPr lang="en-IN"/>
                        <a:t>Forms an action/process noun</a:t>
                      </a:r>
                    </a:p>
                  </a:txBody>
                  <a:tcPr anchor="ctr"/>
                </a:tc>
                <a:tc>
                  <a:txBody>
                    <a:bodyPr/>
                    <a:lstStyle/>
                    <a:p>
                      <a:pPr>
                        <a:buNone/>
                      </a:pPr>
                      <a:r>
                        <a:rPr lang="en-IN" dirty="0"/>
                        <a:t>act → action</a:t>
                      </a:r>
                    </a:p>
                  </a:txBody>
                  <a:tcPr anchor="ctr"/>
                </a:tc>
                <a:extLst>
                  <a:ext uri="{0D108BD9-81ED-4DB2-BD59-A6C34878D82A}">
                    <a16:rowId xmlns:a16="http://schemas.microsoft.com/office/drawing/2014/main" val="1040980122"/>
                  </a:ext>
                </a:extLst>
              </a:tr>
              <a:tr h="579152">
                <a:tc>
                  <a:txBody>
                    <a:bodyPr/>
                    <a:lstStyle/>
                    <a:p>
                      <a:pPr>
                        <a:buNone/>
                      </a:pPr>
                      <a:r>
                        <a:rPr lang="en-IN" b="1" dirty="0"/>
                        <a:t>-</a:t>
                      </a:r>
                      <a:r>
                        <a:rPr lang="en-IN" b="1" dirty="0" err="1"/>
                        <a:t>ment</a:t>
                      </a:r>
                      <a:endParaRPr lang="en-IN" dirty="0"/>
                    </a:p>
                  </a:txBody>
                  <a:tcPr anchor="ctr"/>
                </a:tc>
                <a:tc>
                  <a:txBody>
                    <a:bodyPr/>
                    <a:lstStyle/>
                    <a:p>
                      <a:r>
                        <a:rPr lang="en-US" dirty="0"/>
                        <a:t>Suffix</a:t>
                      </a:r>
                      <a:endParaRPr lang="en-IN" dirty="0"/>
                    </a:p>
                  </a:txBody>
                  <a:tcPr/>
                </a:tc>
                <a:tc>
                  <a:txBody>
                    <a:bodyPr/>
                    <a:lstStyle/>
                    <a:p>
                      <a:r>
                        <a:rPr lang="en-US" dirty="0"/>
                        <a:t>Forms a Noun</a:t>
                      </a:r>
                      <a:endParaRPr lang="en-IN" dirty="0"/>
                    </a:p>
                  </a:txBody>
                  <a:tcPr/>
                </a:tc>
                <a:tc>
                  <a:txBody>
                    <a:bodyPr/>
                    <a:lstStyle/>
                    <a:p>
                      <a:pPr>
                        <a:buNone/>
                      </a:pPr>
                      <a:r>
                        <a:rPr lang="en-US" dirty="0"/>
                        <a:t>develop</a:t>
                      </a:r>
                      <a:r>
                        <a:rPr lang="en-IN" dirty="0"/>
                        <a:t>→</a:t>
                      </a:r>
                      <a:r>
                        <a:rPr lang="en-IN" dirty="0" err="1"/>
                        <a:t>developmnet</a:t>
                      </a:r>
                      <a:endParaRPr lang="en-IN" dirty="0"/>
                    </a:p>
                  </a:txBody>
                  <a:tcPr anchor="ctr"/>
                </a:tc>
                <a:extLst>
                  <a:ext uri="{0D108BD9-81ED-4DB2-BD59-A6C34878D82A}">
                    <a16:rowId xmlns:a16="http://schemas.microsoft.com/office/drawing/2014/main" val="3121148148"/>
                  </a:ext>
                </a:extLst>
              </a:tr>
            </a:tbl>
          </a:graphicData>
        </a:graphic>
      </p:graphicFrame>
    </p:spTree>
    <p:extLst>
      <p:ext uri="{BB962C8B-B14F-4D97-AF65-F5344CB8AC3E}">
        <p14:creationId xmlns:p14="http://schemas.microsoft.com/office/powerpoint/2010/main" val="2370503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36AF-0DE9-54CB-C1EE-2D407BE99CFD}"/>
              </a:ext>
            </a:extLst>
          </p:cNvPr>
          <p:cNvSpPr>
            <a:spLocks noGrp="1"/>
          </p:cNvSpPr>
          <p:nvPr>
            <p:ph type="title"/>
          </p:nvPr>
        </p:nvSpPr>
        <p:spPr/>
        <p:txBody>
          <a:bodyPr/>
          <a:lstStyle/>
          <a:p>
            <a:r>
              <a:rPr lang="en-IN" dirty="0"/>
              <a:t>Examples &amp; Vocabulary Expansion</a:t>
            </a:r>
          </a:p>
        </p:txBody>
      </p:sp>
      <p:sp>
        <p:nvSpPr>
          <p:cNvPr id="3" name="Content Placeholder 2">
            <a:extLst>
              <a:ext uri="{FF2B5EF4-FFF2-40B4-BE49-F238E27FC236}">
                <a16:creationId xmlns:a16="http://schemas.microsoft.com/office/drawing/2014/main" id="{BF307F4C-4748-429A-E92B-6686E1D154CF}"/>
              </a:ext>
            </a:extLst>
          </p:cNvPr>
          <p:cNvSpPr>
            <a:spLocks noGrp="1"/>
          </p:cNvSpPr>
          <p:nvPr>
            <p:ph idx="1"/>
          </p:nvPr>
        </p:nvSpPr>
        <p:spPr/>
        <p:txBody>
          <a:bodyPr>
            <a:normAutofit lnSpcReduction="10000"/>
          </a:bodyPr>
          <a:lstStyle/>
          <a:p>
            <a:r>
              <a:rPr lang="en-IN" dirty="0"/>
              <a:t>Derivational Morphology expands vocabulary by creating new words from existing root words. This process changes the meaning or grammatical category of a word, allowing a language to express new ideas and concepts.</a:t>
            </a:r>
          </a:p>
          <a:p>
            <a:r>
              <a:rPr lang="en-IN" b="1" dirty="0"/>
              <a:t>Examples</a:t>
            </a:r>
            <a:endParaRPr lang="en-IN" dirty="0"/>
          </a:p>
          <a:p>
            <a:r>
              <a:rPr lang="en-IN" dirty="0"/>
              <a:t>Happy → Happiness</a:t>
            </a:r>
          </a:p>
          <a:p>
            <a:r>
              <a:rPr lang="en-IN" dirty="0"/>
              <a:t>Teach → Teacher</a:t>
            </a:r>
          </a:p>
          <a:p>
            <a:r>
              <a:rPr lang="en-IN" dirty="0"/>
              <a:t>Use → Useful</a:t>
            </a:r>
          </a:p>
          <a:p>
            <a:r>
              <a:rPr lang="en-IN" dirty="0"/>
              <a:t>Nation → National</a:t>
            </a:r>
          </a:p>
          <a:p>
            <a:r>
              <a:rPr lang="en-IN" dirty="0"/>
              <a:t>Develop → Development</a:t>
            </a:r>
          </a:p>
          <a:p>
            <a:endParaRPr lang="en-IN" dirty="0"/>
          </a:p>
        </p:txBody>
      </p:sp>
    </p:spTree>
    <p:extLst>
      <p:ext uri="{BB962C8B-B14F-4D97-AF65-F5344CB8AC3E}">
        <p14:creationId xmlns:p14="http://schemas.microsoft.com/office/powerpoint/2010/main" val="3535912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0E00-5FE7-CA72-338D-79F899897E56}"/>
              </a:ext>
            </a:extLst>
          </p:cNvPr>
          <p:cNvSpPr>
            <a:spLocks noGrp="1"/>
          </p:cNvSpPr>
          <p:nvPr>
            <p:ph type="title"/>
          </p:nvPr>
        </p:nvSpPr>
        <p:spPr/>
        <p:txBody>
          <a:bodyPr/>
          <a:lstStyle/>
          <a:p>
            <a:r>
              <a:rPr lang="en-IN" dirty="0"/>
              <a:t>Working Process</a:t>
            </a:r>
          </a:p>
        </p:txBody>
      </p:sp>
      <p:sp>
        <p:nvSpPr>
          <p:cNvPr id="3" name="Content Placeholder 2">
            <a:extLst>
              <a:ext uri="{FF2B5EF4-FFF2-40B4-BE49-F238E27FC236}">
                <a16:creationId xmlns:a16="http://schemas.microsoft.com/office/drawing/2014/main" id="{DF76962F-AE89-9E74-C10E-26F9BFA65633}"/>
              </a:ext>
            </a:extLst>
          </p:cNvPr>
          <p:cNvSpPr>
            <a:spLocks noGrp="1"/>
          </p:cNvSpPr>
          <p:nvPr>
            <p:ph idx="1"/>
          </p:nvPr>
        </p:nvSpPr>
        <p:spPr/>
        <p:txBody>
          <a:bodyPr/>
          <a:lstStyle/>
          <a:p>
            <a:r>
              <a:rPr lang="en-IN" b="1" dirty="0"/>
              <a:t>Steps</a:t>
            </a:r>
            <a:endParaRPr lang="en-IN" dirty="0"/>
          </a:p>
          <a:p>
            <a:r>
              <a:rPr lang="en-IN" dirty="0"/>
              <a:t>Identify the root word.</a:t>
            </a:r>
          </a:p>
          <a:p>
            <a:r>
              <a:rPr lang="en-IN" dirty="0"/>
              <a:t>Choose a suitable prefix or suffix.</a:t>
            </a:r>
          </a:p>
          <a:p>
            <a:r>
              <a:rPr lang="en-IN" dirty="0"/>
              <a:t>Attach the affix to the root word.</a:t>
            </a:r>
          </a:p>
          <a:p>
            <a:r>
              <a:rPr lang="en-IN" dirty="0"/>
              <a:t>Form a new derived word.</a:t>
            </a:r>
          </a:p>
          <a:p>
            <a:r>
              <a:rPr lang="en-IN" dirty="0"/>
              <a:t>Use the derived word in the appropriate context.</a:t>
            </a:r>
          </a:p>
          <a:p>
            <a:endParaRPr lang="en-IN" dirty="0"/>
          </a:p>
        </p:txBody>
      </p:sp>
    </p:spTree>
    <p:extLst>
      <p:ext uri="{BB962C8B-B14F-4D97-AF65-F5344CB8AC3E}">
        <p14:creationId xmlns:p14="http://schemas.microsoft.com/office/powerpoint/2010/main" val="1862355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788AF-0B39-DE72-3940-B1D03A8FD4DF}"/>
              </a:ext>
            </a:extLst>
          </p:cNvPr>
          <p:cNvSpPr>
            <a:spLocks noGrp="1"/>
          </p:cNvSpPr>
          <p:nvPr>
            <p:ph type="title"/>
          </p:nvPr>
        </p:nvSpPr>
        <p:spPr/>
        <p:txBody>
          <a:bodyPr/>
          <a:lstStyle/>
          <a:p>
            <a:r>
              <a:rPr lang="en-IN" dirty="0"/>
              <a:t>Results</a:t>
            </a:r>
          </a:p>
        </p:txBody>
      </p:sp>
      <p:sp>
        <p:nvSpPr>
          <p:cNvPr id="3" name="Content Placeholder 2">
            <a:extLst>
              <a:ext uri="{FF2B5EF4-FFF2-40B4-BE49-F238E27FC236}">
                <a16:creationId xmlns:a16="http://schemas.microsoft.com/office/drawing/2014/main" id="{8B996DB2-2C23-B57A-5CF3-913C1E853521}"/>
              </a:ext>
            </a:extLst>
          </p:cNvPr>
          <p:cNvSpPr>
            <a:spLocks noGrp="1"/>
          </p:cNvSpPr>
          <p:nvPr>
            <p:ph idx="1"/>
          </p:nvPr>
        </p:nvSpPr>
        <p:spPr/>
        <p:txBody>
          <a:bodyPr/>
          <a:lstStyle/>
          <a:p>
            <a:r>
              <a:rPr lang="en-IN" dirty="0"/>
              <a:t>Derivational Morphology improves vocabulary expansion by generating meaningful new words from existing words. It enhances language understanding, supports word recognition, and improves the performance of Natural Language Processing (NLP) applications such as machine translation, text mining, and information retrieval.</a:t>
            </a:r>
          </a:p>
          <a:p>
            <a:r>
              <a:rPr lang="en-IN" b="1" dirty="0"/>
              <a:t>Key Results</a:t>
            </a:r>
            <a:endParaRPr lang="en-IN" dirty="0"/>
          </a:p>
          <a:p>
            <a:r>
              <a:rPr lang="en-IN" dirty="0"/>
              <a:t>Increased vocabulary size</a:t>
            </a:r>
          </a:p>
          <a:p>
            <a:r>
              <a:rPr lang="en-IN" dirty="0"/>
              <a:t>Better semantic understanding</a:t>
            </a:r>
          </a:p>
          <a:p>
            <a:r>
              <a:rPr lang="en-IN" dirty="0"/>
              <a:t>Improved NLP performance</a:t>
            </a:r>
          </a:p>
          <a:p>
            <a:endParaRPr lang="en-IN" dirty="0"/>
          </a:p>
        </p:txBody>
      </p:sp>
    </p:spTree>
    <p:extLst>
      <p:ext uri="{BB962C8B-B14F-4D97-AF65-F5344CB8AC3E}">
        <p14:creationId xmlns:p14="http://schemas.microsoft.com/office/powerpoint/2010/main" val="29549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C384-285A-45C7-A5FE-7D6D7E22F23F}"/>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51AD68C-B747-1F83-50A8-226BEC6BF895}"/>
              </a:ext>
            </a:extLst>
          </p:cNvPr>
          <p:cNvSpPr>
            <a:spLocks noGrp="1"/>
          </p:cNvSpPr>
          <p:nvPr>
            <p:ph idx="1"/>
          </p:nvPr>
        </p:nvSpPr>
        <p:spPr/>
        <p:txBody>
          <a:bodyPr/>
          <a:lstStyle/>
          <a:p>
            <a:r>
              <a:rPr lang="en-IN" dirty="0"/>
              <a:t>Derivational Morphology is an essential component of Natural Language Processing that enables the creation of new words and enriches vocabulary. It improves language understanding and supports various NLP applications, making it an important technique for modern intelligent language systems.</a:t>
            </a:r>
          </a:p>
        </p:txBody>
      </p:sp>
    </p:spTree>
    <p:extLst>
      <p:ext uri="{BB962C8B-B14F-4D97-AF65-F5344CB8AC3E}">
        <p14:creationId xmlns:p14="http://schemas.microsoft.com/office/powerpoint/2010/main" val="453705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363</Words>
  <Application>Microsoft Office PowerPoint</Application>
  <PresentationFormat>Widescreen</PresentationFormat>
  <Paragraphs>59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Derivational Morphology and Vocabulary Expansion  </vt:lpstr>
      <vt:lpstr>Introduction</vt:lpstr>
      <vt:lpstr>Common Derivational Affixes</vt:lpstr>
      <vt:lpstr>Examples &amp; Vocabulary Expansion</vt:lpstr>
      <vt:lpstr>Working Process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reddy hemanth</dc:creator>
  <cp:lastModifiedBy>reddy hemanth</cp:lastModifiedBy>
  <cp:revision>1</cp:revision>
  <dcterms:created xsi:type="dcterms:W3CDTF">2026-07-15T05:32:13Z</dcterms:created>
  <dcterms:modified xsi:type="dcterms:W3CDTF">2026-07-15T05:34:28Z</dcterms:modified>
</cp:coreProperties>
</file>